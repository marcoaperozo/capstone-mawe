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9144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Multi-Agent AI Workflow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>
                <a:solidFill>
                  <a:srgbClr val="BBE0E3"/>
                </a:solidFill>
                <a:latin typeface="Arial"/>
              </a:rPr>
              <a:t>Simulating an Autonomous Software Development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54680"/>
            <a:ext cx="2194560" cy="45720"/>
          </a:xfrm>
          <a:prstGeom prst="rect">
            <a:avLst/>
          </a:prstGeom>
          <a:solidFill>
            <a:srgbClr val="BBE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12801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PROGRESS REPORT  ·  END OF WEEK 4 OF 12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BBE0E3"/>
                </a:solidFill>
                <a:latin typeface="Arial"/>
              </a:rPr>
              <a:t>Marco Perozo  ·  Gabriel Marte  ·  Lewdy Aquino  ·  Alvin Almonte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BE0E3"/>
                </a:solidFill>
                <a:latin typeface="Arial"/>
              </a:rPr>
              <a:t>Department of Computer Science  ·  Southwest Minnesota State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32720" cy="8229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BBE0E3"/>
                </a:solidFill>
                <a:latin typeface="Arial"/>
              </a:rPr>
              <a:t>Repository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github.com/marcoaperozo/Capstone-MAWE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72200"/>
            <a:ext cx="1033272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BBE0E3"/>
                </a:solidFill>
                <a:latin typeface="Arial"/>
              </a:rPr>
              <a:t>Phase 1 complete  ·  Phase 2 in progress  ·  114 automated tests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26561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Where the project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BBE0E3"/>
                </a:solidFill>
                <a:latin typeface="Arial"/>
              </a:rPr>
              <a:t>Week 4 of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Phase 1 is complete and Phase 2 is two thirds done. The engine runs end to end, every run is stored, and three milestone checks run automatically on every push.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48840"/>
          <a:ext cx="1106423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673"/>
                <a:gridCol w="851095"/>
                <a:gridCol w="5957667"/>
                <a:gridCol w="1595803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Weeks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Deliverable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 · Setup &amp; prototyping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1–2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Repository, CI, database schema, pipeline on a state graph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6F3C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2 · Role implementation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3–5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Product Manager, Developer and Code Reviewer agents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A862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3 · Memory &amp; state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6–8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Context summarisation, token budget, loop hardening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6B6B6B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4 · Testing &amp; evaluation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9–12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Benchmark suite, single-model baseline, final report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6B6B6B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892040"/>
            <a:ext cx="3520440" cy="1371600"/>
          </a:xfrm>
          <a:prstGeom prst="rect">
            <a:avLst/>
          </a:prstGeom>
          <a:solidFill>
            <a:srgbClr val="EDF5F6"/>
          </a:solidFill>
          <a:ln w="15875">
            <a:solidFill>
              <a:srgbClr val="1E6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5038344"/>
            <a:ext cx="3118104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E6F3C"/>
                </a:solidFill>
                <a:latin typeface="Arial"/>
              </a:rPr>
              <a:t>Milestone M1 — met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458968"/>
            <a:ext cx="3118104" cy="65836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Arial"/>
              </a:rPr>
              <a:t>Three-role pipeline runs end to end on a LangGraph state machine, with every exchange persisted.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4892040"/>
            <a:ext cx="3520440" cy="1371600"/>
          </a:xfrm>
          <a:prstGeom prst="rect">
            <a:avLst/>
          </a:prstGeom>
          <a:solidFill>
            <a:srgbClr val="EDF5F6"/>
          </a:solidFill>
          <a:ln w="15875">
            <a:solidFill>
              <a:srgbClr val="A86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17136" y="5038344"/>
            <a:ext cx="3118104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A86200"/>
                </a:solidFill>
                <a:latin typeface="Arial"/>
              </a:rPr>
              <a:t>Milestone M2 — on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5458968"/>
            <a:ext cx="3118104" cy="65836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Arial"/>
              </a:rPr>
              <a:t>Product Manager and Developer complete and tested. The Code Reviewer is Week 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4892040"/>
            <a:ext cx="3520440" cy="1371600"/>
          </a:xfrm>
          <a:prstGeom prst="rect">
            <a:avLst/>
          </a:prstGeom>
          <a:solidFill>
            <a:srgbClr val="EDF5F6"/>
          </a:solidFill>
          <a:ln w="15875">
            <a:solidFill>
              <a:srgbClr val="003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93608" y="5038344"/>
            <a:ext cx="3118104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3466"/>
                </a:solidFill>
                <a:latin typeface="Arial"/>
              </a:rPr>
              <a:t>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5458968"/>
            <a:ext cx="3118104" cy="65836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Arial"/>
              </a:rPr>
              <a:t>On plan. No milestone has slipped and no scope has been dropped.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MAWE Capstone  ·  Progress Report  ·  Week 4 of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26561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How the system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BBE0E3"/>
                </a:solidFill>
                <a:latin typeface="Ari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A plain-language prompt is routed through three specialised agents that mirror a real software team. The Reviewer sends work back until it passes or a safety limit stops the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1975104" cy="1143000"/>
          </a:xfrm>
          <a:prstGeom prst="roundRect">
            <a:avLst/>
          </a:prstGeom>
          <a:solidFill>
            <a:srgbClr val="BBE0E3"/>
          </a:solidFill>
          <a:ln w="22225">
            <a:solidFill>
              <a:srgbClr val="003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003466"/>
                </a:solidFill>
                <a:latin typeface="Arial"/>
              </a:rPr>
              <a:t>User prompt</a:t>
            </a:r>
          </a:p>
          <a:p>
            <a:pPr algn="ctr"/>
            <a:r>
              <a:rPr sz="1000">
                <a:solidFill>
                  <a:srgbClr val="1A1A1A"/>
                </a:solidFill>
                <a:latin typeface="Arial"/>
              </a:rPr>
              <a:t>"Build a snake game"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74620" y="2642616"/>
            <a:ext cx="164592" cy="155448"/>
          </a:xfrm>
          <a:prstGeom prst="rightArrow">
            <a:avLst/>
          </a:prstGeom>
          <a:solidFill>
            <a:srgbClr val="003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360" y="2148840"/>
            <a:ext cx="1975104" cy="1143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3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003466"/>
                </a:solidFill>
                <a:latin typeface="Arial"/>
              </a:rPr>
              <a:t>Product Manager</a:t>
            </a:r>
          </a:p>
          <a:p>
            <a:pPr algn="ctr"/>
            <a:r>
              <a:rPr sz="1000">
                <a:solidFill>
                  <a:srgbClr val="1A1A1A"/>
                </a:solidFill>
                <a:latin typeface="Arial"/>
              </a:rPr>
              <a:t>Spec + numbered acceptance criteria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96612" y="2642616"/>
            <a:ext cx="164592" cy="155448"/>
          </a:xfrm>
          <a:prstGeom prst="rightArrow">
            <a:avLst/>
          </a:prstGeom>
          <a:solidFill>
            <a:srgbClr val="003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02352" y="2148840"/>
            <a:ext cx="1975104" cy="1143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3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003466"/>
                </a:solidFill>
                <a:latin typeface="Arial"/>
              </a:rPr>
              <a:t>Developer</a:t>
            </a:r>
          </a:p>
          <a:p>
            <a:pPr algn="ctr"/>
            <a:r>
              <a:rPr sz="1000">
                <a:solidFill>
                  <a:srgbClr val="1A1A1A"/>
                </a:solidFill>
                <a:latin typeface="Arial"/>
              </a:rPr>
              <a:t>Complete multi-file source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18604" y="2642616"/>
            <a:ext cx="164592" cy="155448"/>
          </a:xfrm>
          <a:prstGeom prst="rightArrow">
            <a:avLst/>
          </a:prstGeom>
          <a:solidFill>
            <a:srgbClr val="003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24344" y="2148840"/>
            <a:ext cx="1975104" cy="1143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3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003466"/>
                </a:solidFill>
                <a:latin typeface="Arial"/>
              </a:rPr>
              <a:t>Code Reviewer</a:t>
            </a:r>
          </a:p>
          <a:p>
            <a:pPr algn="ctr"/>
            <a:r>
              <a:rPr sz="1000">
                <a:solidFill>
                  <a:srgbClr val="1A1A1A"/>
                </a:solidFill>
                <a:latin typeface="Arial"/>
              </a:rPr>
              <a:t>Runs the code, scores the criteria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40596" y="2642616"/>
            <a:ext cx="164592" cy="155448"/>
          </a:xfrm>
          <a:prstGeom prst="rightArrow">
            <a:avLst/>
          </a:prstGeom>
          <a:solidFill>
            <a:srgbClr val="003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46336" y="2148840"/>
            <a:ext cx="1975104" cy="1143000"/>
          </a:xfrm>
          <a:prstGeom prst="roundRect">
            <a:avLst/>
          </a:prstGeom>
          <a:solidFill>
            <a:srgbClr val="BBE0E3"/>
          </a:solidFill>
          <a:ln w="22225">
            <a:solidFill>
              <a:srgbClr val="003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003466"/>
                </a:solidFill>
                <a:latin typeface="Arial"/>
              </a:rPr>
              <a:t>Finalize</a:t>
            </a:r>
          </a:p>
          <a:p>
            <a:pPr algn="ctr"/>
            <a:r>
              <a:rPr sz="1000">
                <a:solidFill>
                  <a:srgbClr val="1A1A1A"/>
                </a:solidFill>
                <a:latin typeface="Arial"/>
              </a:rPr>
              <a:t>Code, spec, review history, metrics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6089904" y="3483864"/>
            <a:ext cx="2221992" cy="182880"/>
          </a:xfrm>
          <a:prstGeom prst="leftArrow">
            <a:avLst>
              <a:gd name="adj1" fmla="val 42000"/>
              <a:gd name="adj2" fmla="val 9000"/>
            </a:avLst>
          </a:prstGeom>
          <a:solidFill>
            <a:srgbClr val="B0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73444" y="3291840"/>
            <a:ext cx="32918" cy="274319"/>
          </a:xfrm>
          <a:prstGeom prst="rect">
            <a:avLst/>
          </a:prstGeom>
          <a:solidFill>
            <a:srgbClr val="B0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95436" y="3291840"/>
            <a:ext cx="32918" cy="274319"/>
          </a:xfrm>
          <a:prstGeom prst="rect">
            <a:avLst/>
          </a:prstGeom>
          <a:solidFill>
            <a:srgbClr val="B0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78424" y="3749039"/>
            <a:ext cx="329184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B03025"/>
                </a:solidFill>
                <a:latin typeface="Arial"/>
              </a:rPr>
              <a:t>reject  ∧  iteration &lt; max  ∧  code changed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60520"/>
            <a:ext cx="3520440" cy="2011680"/>
          </a:xfrm>
          <a:prstGeom prst="rect">
            <a:avLst/>
          </a:prstGeom>
          <a:solidFill>
            <a:srgbClr val="EDF5F6"/>
          </a:solidFill>
          <a:ln w="15875">
            <a:solidFill>
              <a:srgbClr val="003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9808" y="4306824"/>
            <a:ext cx="3118104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3466"/>
                </a:solidFill>
                <a:latin typeface="Arial"/>
              </a:rPr>
              <a:t>Typed contracts, not prose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27448"/>
            <a:ext cx="3118104" cy="12984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Arial"/>
              </a:rPr>
              <a:t>Each agent emits structured JSON: the spec, the files, the review verdict. The next agent reads fields, never English. Malformed output is repaired once, then recorded as an error rather than crashing the run.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4160520"/>
            <a:ext cx="3520440" cy="2011680"/>
          </a:xfrm>
          <a:prstGeom prst="rect">
            <a:avLst/>
          </a:prstGeom>
          <a:solidFill>
            <a:srgbClr val="EDF5F6"/>
          </a:solidFill>
          <a:ln w="15875">
            <a:solidFill>
              <a:srgbClr val="003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17136" y="4306824"/>
            <a:ext cx="3118104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3466"/>
                </a:solidFill>
                <a:latin typeface="Arial"/>
              </a:rPr>
              <a:t>Everything is recorded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4727448"/>
            <a:ext cx="3118104" cy="12984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Arial"/>
              </a:rPr>
              <a:t>Eleven database tables hold every agent message, every version of the code, every review and every token count. Any past run can be replayed and costed.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4160520"/>
            <a:ext cx="3520440" cy="2011680"/>
          </a:xfrm>
          <a:prstGeom prst="rect">
            <a:avLst/>
          </a:prstGeom>
          <a:solidFill>
            <a:srgbClr val="EDF5F6"/>
          </a:solidFill>
          <a:ln w="15875">
            <a:solidFill>
              <a:srgbClr val="003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93608" y="4306824"/>
            <a:ext cx="3118104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3466"/>
                </a:solidFill>
                <a:latin typeface="Arial"/>
              </a:rPr>
              <a:t>Code is executed, not trusted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4727448"/>
            <a:ext cx="3118104" cy="129844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Arial"/>
              </a:rPr>
              <a:t>Generated programs run in a throwaway directory as a separate process with a wall-clock timeout. A crash or a hang is a result the Reviewer reads, never an exception that kills the run.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MAWE Capstone  ·  Progress Report  ·  Week 4 of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26561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What was delivered, week by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BBE0E3"/>
                </a:solidFill>
                <a:latin typeface="Arial"/>
              </a:rPr>
              <a:t>Commit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Each week is a single commit whose message carries that week's milestone result. The history is the progress record.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74519"/>
          <a:ext cx="1106423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264"/>
                <a:gridCol w="2790112"/>
                <a:gridCol w="6927176"/>
                <a:gridCol w="769686"/>
              </a:tblGrid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Week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Deliverable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What it means in practice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Tests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Repository, CI, database schema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Package layout, GitHub Actions on three Python versions, all 11 tables with indexes and constraints, architecture document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State graph and provider layer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LangGraph state machine, four loop-prevention mechanisms, mock and real LLM adapters behind one interface, runs persisted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Product Manager agent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Specification contract with numbered acceptance criteria, validator, one automatic repair round, five sample prompts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Developer agent and sandbox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Complete multi-file output, placeholder rejection, subprocess sandbox with timeout and path containment, command-line interface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003466"/>
                </a:solidFill>
                <a:latin typeface="Arial"/>
              </a:rPr>
              <a:t>Next:  Week 5 completes the Code Reviewer so it scores the acceptance criteria by running tests, rather than reporting what the model claims.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MAWE Capstone  ·  Progress Report  ·  Week 4 of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26561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Measured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BBE0E3"/>
                </a:solidFill>
                <a:latin typeface="Arial"/>
              </a:rPr>
              <a:t>Not estimates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Three checks run automatically on every push. Each one executes real code and compares real output — none of these numbers is an assertion.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3466"/>
                </a:solidFill>
                <a:latin typeface="Arial"/>
              </a:rPr>
              <a:t>1 · The loop always terminates, and by the right exit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86000"/>
          <a:ext cx="11064239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39"/>
                <a:gridCol w="1188720"/>
                <a:gridCol w="2011680"/>
                <a:gridCol w="36576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Iterations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How it stopped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Mechanism that fired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Reviewer rejects once, then approves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approved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severity threshold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Developer returns identical code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no_progress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SHA-256 hash of the generated files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Reviewer never approves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iteration_cap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hard cap, default 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069080"/>
            <a:ext cx="539496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3466"/>
                </a:solidFill>
                <a:latin typeface="Arial"/>
              </a:rPr>
              <a:t>2 · The Product Manager produces usable specs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434840"/>
          <a:ext cx="539496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73736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Valid spec on first answer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5 / 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Recovered after one repair round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5 / 5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17920" y="4069080"/>
            <a:ext cx="539496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03466"/>
                </a:solidFill>
                <a:latin typeface="Arial"/>
              </a:rPr>
              <a:t>3 · The generated code actually runs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4434840"/>
          <a:ext cx="539496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73736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Sandbox executions matching expected output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10 / 10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Multi-file project with cross-module imports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verified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E6F3C"/>
                </a:solidFill>
                <a:latin typeface="Arial"/>
              </a:rPr>
              <a:t>114 automated tests, no API key required, zero cost per run.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MAWE Capstone  ·  Progress Report  ·  Week 4 of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26561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The core problem: making the loop stop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BBE0E3"/>
                </a:solidFill>
                <a:latin typeface="Arial"/>
              </a:rPr>
              <a:t>Research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An agent that reviews another agent's work can reject forever. That is the failure mode that makes autonomous pipelines unusable, and it is the part of this project that is genuinely a computer-science problem rather than an engineering one. Four independent mechanisms guard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394960" cy="1298448"/>
          </a:xfrm>
          <a:prstGeom prst="rect">
            <a:avLst/>
          </a:prstGeom>
          <a:solidFill>
            <a:srgbClr val="EDF5F6"/>
          </a:solidFill>
          <a:ln w="15875">
            <a:solidFill>
              <a:srgbClr val="003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2295144"/>
            <a:ext cx="4992624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3466"/>
                </a:solidFill>
                <a:latin typeface="Arial"/>
              </a:rPr>
              <a:t>1 · Hard iteration 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15768"/>
            <a:ext cx="4992624" cy="585215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A configurable ceiling, default five, on review-and-fix cycles. The backstop that always holds.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148840"/>
            <a:ext cx="5394960" cy="1298448"/>
          </a:xfrm>
          <a:prstGeom prst="rect">
            <a:avLst/>
          </a:prstGeom>
          <a:solidFill>
            <a:srgbClr val="EDF5F6"/>
          </a:solidFill>
          <a:ln w="15875">
            <a:solidFill>
              <a:srgbClr val="003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64807" y="2295144"/>
            <a:ext cx="4992624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3466"/>
                </a:solidFill>
                <a:latin typeface="Arial"/>
              </a:rPr>
              <a:t>2 · Severity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715768"/>
            <a:ext cx="4992624" cy="585215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Only critical and major issues block approval. A reviewer that objects to formatting cannot stall the pipeline.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11880"/>
            <a:ext cx="5394960" cy="1298448"/>
          </a:xfrm>
          <a:prstGeom prst="rect">
            <a:avLst/>
          </a:prstGeom>
          <a:solidFill>
            <a:srgbClr val="EDF5F6"/>
          </a:solidFill>
          <a:ln w="15875">
            <a:solidFill>
              <a:srgbClr val="003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3758184"/>
            <a:ext cx="4992624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3466"/>
                </a:solidFill>
                <a:latin typeface="Arial"/>
              </a:rPr>
              <a:t>3 · No-progress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178808"/>
            <a:ext cx="4992624" cy="585215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The generated files are hashed. If identical code comes back, the Developer is not responding to feedback and the loop exits immediately.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611880"/>
            <a:ext cx="5394960" cy="1298448"/>
          </a:xfrm>
          <a:prstGeom prst="rect">
            <a:avLst/>
          </a:prstGeom>
          <a:solidFill>
            <a:srgbClr val="EDF5F6"/>
          </a:solidFill>
          <a:ln w="15875">
            <a:solidFill>
              <a:srgbClr val="003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64807" y="3758184"/>
            <a:ext cx="4992624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3466"/>
                </a:solidFill>
                <a:latin typeface="Arial"/>
              </a:rPr>
              <a:t>4 · Fallback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4178808"/>
            <a:ext cx="4992624" cy="585215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Exiting without approval does not fail the run. The best version produced is returned with a warnings report.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solidFill>
            <a:srgbClr val="BBE0E3"/>
          </a:solidFill>
          <a:ln w="15875">
            <a:solidFill>
              <a:srgbClr val="003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21808"/>
            <a:ext cx="10607040" cy="7315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003466"/>
                </a:solidFill>
                <a:latin typeface="Arial"/>
              </a:rPr>
              <a:t>Proven, not assumed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1A1A1A"/>
                </a:solidFill>
                <a:latin typeface="Arial"/>
              </a:rPr>
              <a:t>The routing policy is one pure function of the run state, so an exhaustive test sweeps every combination of iteration count, severity, verdict and repeated-or-changed code, and asserts that no reachable state can loop forever.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MAWE Capstone  ·  Progress Report  ·  Week 4 of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26561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What is working — and what is not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BBE0E3"/>
                </a:solidFill>
                <a:latin typeface="Arial"/>
              </a:rPr>
              <a:t>Honest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Stated plainly so that the remaining risk is visible rather than discovered later.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19072"/>
          <a:ext cx="11064240" cy="432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371600"/>
                <a:gridCol w="5760720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Evidence or what remains</a:t>
                      </a:r>
                    </a:p>
                  </a:txBody>
                  <a:tcPr marL="82296" marR="82296" marT="18288" marB="18288" anchor="ctr">
                    <a:solidFill>
                      <a:srgbClr val="00346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Orchestration — LangGraph state graph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E6F3C"/>
                          </a:solidFill>
                          <a:latin typeface="Arial"/>
                        </a:rPr>
                        <a:t>Working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Runs end to end; 34 integration tests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Loop prevention — four mechanisms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E6F3C"/>
                          </a:solidFill>
                          <a:latin typeface="Arial"/>
                        </a:rPr>
                        <a:t>Working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Exhaustive routing sweep; all three exits demonstrated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Persistence — 11 tables, SQLite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E6F3C"/>
                          </a:solidFill>
                          <a:latin typeface="Arial"/>
                        </a:rPr>
                        <a:t>Working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Every run queryable; PostgreSQL-ready schema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Product Manager agent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E6F3C"/>
                          </a:solidFill>
                          <a:latin typeface="Arial"/>
                        </a:rPr>
                        <a:t>Working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Valid specs on 5/5 sample prompts, both languages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Developer agent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E6F3C"/>
                          </a:solidFill>
                          <a:latin typeface="Arial"/>
                        </a:rPr>
                        <a:t>Working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Complete multi-file output; placeholder content rejected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Execution sandbox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E6F3C"/>
                          </a:solidFill>
                          <a:latin typeface="Arial"/>
                        </a:rPr>
                        <a:t>Working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10/10 executions; timeout, crash and path escape all handled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Code Reviewer agent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A86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Parses the contract and calls the sandbox; does not yet score the criteria by running tests — Week 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Real-model adapters (Anthropic, OpenAI)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A86200"/>
                          </a:solidFill>
                          <a:latin typeface="Arial"/>
                        </a:rPr>
                        <a:t>Untested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Written behind the same interface; no live API call made yet — needs a key, which is a configuration change, not a code change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Memory management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6B6B6B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Weeks 6–8, as scheduled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Benchmark suite and baselines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6B6B6B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Weeks 9–12, as scheduled</a:t>
                      </a:r>
                    </a:p>
                  </a:txBody>
                  <a:tcPr marL="82296" marR="82296" marT="18288" marB="18288" anchor="ctr"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MAWE Capstone  ·  Progress Report  ·  Week 4 of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26561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How to verify any of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800"/>
              </a:spcAft>
            </a:pPr>
            <a:r>
              <a:rPr sz="1300" b="0">
                <a:solidFill>
                  <a:srgbClr val="BBE0E3"/>
                </a:solidFill>
                <a:latin typeface="Arial"/>
              </a:rPr>
              <a:t>Four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Clone the repository and run these. No API key, no network, no cost.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035040" cy="40233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/>
            <a:r>
              <a:rPr sz="1200">
                <a:solidFill>
                  <a:srgbClr val="7FE08A"/>
                </a:solidFill>
                <a:latin typeface="Consolas"/>
              </a:rPr>
              <a:t>pytest -q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892807"/>
            <a:ext cx="484632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Runs the full suite: 114 tests in about eight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87752"/>
            <a:ext cx="6035040" cy="40233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/>
            <a:r>
              <a:rPr sz="1200">
                <a:solidFill>
                  <a:srgbClr val="7FE08A"/>
                </a:solidFill>
                <a:latin typeface="Consolas"/>
              </a:rPr>
              <a:t>python -m mawe.cli "Build a terminal snake game" --verbose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606040"/>
            <a:ext cx="484632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Watch the pipeline live: spec written, code rejected on a named criterion, fixed, approved.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00984"/>
            <a:ext cx="6035040" cy="40233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/>
            <a:r>
              <a:rPr sz="1200">
                <a:solidFill>
                  <a:srgbClr val="7FE08A"/>
                </a:solidFill>
                <a:latin typeface="Consolas"/>
              </a:rPr>
              <a:t>python scripts/m1_demo.py --db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319272"/>
            <a:ext cx="484632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Three scenarios exiting three different ways, and the database rows they produced.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14216"/>
            <a:ext cx="6035040" cy="40233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/>
            <a:r>
              <a:rPr sz="1200">
                <a:solidFill>
                  <a:srgbClr val="7FE08A"/>
                </a:solidFill>
                <a:latin typeface="Consolas"/>
              </a:rPr>
              <a:t>python scripts/week4_dev_check.py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032504"/>
            <a:ext cx="4846320" cy="4572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Writes generated programs into the sandbox, executes them, compares output.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46320"/>
            <a:ext cx="11064240" cy="3200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03466"/>
                </a:solidFill>
                <a:latin typeface="Arial"/>
              </a:rPr>
              <a:t>First-time setup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6360"/>
            <a:ext cx="11064240" cy="40233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/>
            <a:r>
              <a:rPr sz="1100">
                <a:solidFill>
                  <a:srgbClr val="7FE08A"/>
                </a:solidFill>
                <a:latin typeface="Consolas"/>
              </a:rPr>
              <a:t>git clone https://github.com/marcoaperozo/Capstone-MAWE.git  &amp;&amp;  cd Capstone-MAWE  &amp;&amp;  pip install -r requirements.txt  &amp;&amp;  pip install -e 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3466"/>
                </a:solidFill>
                <a:latin typeface="Arial"/>
              </a:rPr>
              <a:t>Repository:  github.com/marcoaperozo/Capstone-MAWE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Full walkthrough in docs/DEMO-GUIDE.md  ·  design rationale in docs/architecture.md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MAWE Capstone  ·  Progress Report  ·  Week 4 of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